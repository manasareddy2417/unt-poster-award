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20116800" cy="2560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064" userDrawn="1">
          <p15:clr>
            <a:srgbClr val="A4A3A4"/>
          </p15:clr>
        </p15:guide>
        <p15:guide id="2" pos="63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58" autoAdjust="0"/>
    <p:restoredTop sz="94660"/>
  </p:normalViewPr>
  <p:slideViewPr>
    <p:cSldViewPr snapToGrid="0">
      <p:cViewPr>
        <p:scale>
          <a:sx n="53" d="100"/>
          <a:sy n="53" d="100"/>
        </p:scale>
        <p:origin x="1544" y="144"/>
      </p:cViewPr>
      <p:guideLst>
        <p:guide orient="horz" pos="8064"/>
        <p:guide pos="6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S&amp;P 500</c:v>
                </c:pt>
              </c:strCache>
            </c:strRef>
          </c:tx>
          <c:spPr>
            <a:ln w="31750" cap="flat">
              <a:solidFill>
                <a:srgbClr val="F5C84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C842"/>
              </a:solidFill>
              <a:ln w="9525" cap="flat">
                <a:solidFill>
                  <a:srgbClr val="F5C842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Feb2</c:v>
                </c:pt>
                <c:pt idx="1">
                  <c:v>Feb3</c:v>
                </c:pt>
                <c:pt idx="2">
                  <c:v>Feb4</c:v>
                </c:pt>
                <c:pt idx="3">
                  <c:v>Feb5</c:v>
                </c:pt>
                <c:pt idx="4">
                  <c:v>Feb6</c:v>
                </c:pt>
                <c:pt idx="5">
                  <c:v>Feb9</c:v>
                </c:pt>
                <c:pt idx="6">
                  <c:v>Feb10</c:v>
                </c:pt>
                <c:pt idx="7">
                  <c:v>Feb11</c:v>
                </c:pt>
                <c:pt idx="8">
                  <c:v>Feb12</c:v>
                </c:pt>
                <c:pt idx="9">
                  <c:v>Feb13</c:v>
                </c:pt>
                <c:pt idx="10">
                  <c:v>Feb16</c:v>
                </c:pt>
                <c:pt idx="11">
                  <c:v>Feb17</c:v>
                </c:pt>
                <c:pt idx="12">
                  <c:v>Feb18</c:v>
                </c:pt>
                <c:pt idx="13">
                  <c:v>Feb19</c:v>
                </c:pt>
                <c:pt idx="14">
                  <c:v>Feb20</c:v>
                </c:pt>
                <c:pt idx="15">
                  <c:v>Feb23</c:v>
                </c:pt>
                <c:pt idx="16">
                  <c:v>Feb24</c:v>
                </c:pt>
                <c:pt idx="17">
                  <c:v>Feb25</c:v>
                </c:pt>
                <c:pt idx="18">
                  <c:v>Feb26</c:v>
                </c:pt>
                <c:pt idx="19">
                  <c:v>Feb27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1000</c:v>
                </c:pt>
                <c:pt idx="1">
                  <c:v>991.6</c:v>
                </c:pt>
                <c:pt idx="2">
                  <c:v>986.57</c:v>
                </c:pt>
                <c:pt idx="3">
                  <c:v>974.48</c:v>
                </c:pt>
                <c:pt idx="4">
                  <c:v>993.67</c:v>
                </c:pt>
                <c:pt idx="5">
                  <c:v>998.33</c:v>
                </c:pt>
                <c:pt idx="6">
                  <c:v>995.04</c:v>
                </c:pt>
                <c:pt idx="7">
                  <c:v>994.99</c:v>
                </c:pt>
                <c:pt idx="8">
                  <c:v>979.4</c:v>
                </c:pt>
                <c:pt idx="9">
                  <c:v>979.89</c:v>
                </c:pt>
                <c:pt idx="10">
                  <c:v>979.89</c:v>
                </c:pt>
                <c:pt idx="11">
                  <c:v>980.9</c:v>
                </c:pt>
                <c:pt idx="12">
                  <c:v>986.36</c:v>
                </c:pt>
                <c:pt idx="13">
                  <c:v>983.58</c:v>
                </c:pt>
                <c:pt idx="14">
                  <c:v>990.41</c:v>
                </c:pt>
                <c:pt idx="15">
                  <c:v>980.12</c:v>
                </c:pt>
                <c:pt idx="16">
                  <c:v>987.62</c:v>
                </c:pt>
                <c:pt idx="17">
                  <c:v>995.66</c:v>
                </c:pt>
                <c:pt idx="18">
                  <c:v>990.31</c:v>
                </c:pt>
                <c:pt idx="19">
                  <c:v>986.02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FEB-6345-8DA9-38DF0F74D9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ln w="31750" cap="flat">
              <a:solidFill>
                <a:srgbClr val="4D9E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D9EFF"/>
              </a:solidFill>
              <a:ln w="9525" cap="flat">
                <a:solidFill>
                  <a:srgbClr val="4D9EFF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Feb2</c:v>
                </c:pt>
                <c:pt idx="1">
                  <c:v>Feb3</c:v>
                </c:pt>
                <c:pt idx="2">
                  <c:v>Feb4</c:v>
                </c:pt>
                <c:pt idx="3">
                  <c:v>Feb5</c:v>
                </c:pt>
                <c:pt idx="4">
                  <c:v>Feb6</c:v>
                </c:pt>
                <c:pt idx="5">
                  <c:v>Feb9</c:v>
                </c:pt>
                <c:pt idx="6">
                  <c:v>Feb10</c:v>
                </c:pt>
                <c:pt idx="7">
                  <c:v>Feb11</c:v>
                </c:pt>
                <c:pt idx="8">
                  <c:v>Feb12</c:v>
                </c:pt>
                <c:pt idx="9">
                  <c:v>Feb13</c:v>
                </c:pt>
                <c:pt idx="10">
                  <c:v>Feb16</c:v>
                </c:pt>
                <c:pt idx="11">
                  <c:v>Feb17</c:v>
                </c:pt>
                <c:pt idx="12">
                  <c:v>Feb18</c:v>
                </c:pt>
                <c:pt idx="13">
                  <c:v>Feb19</c:v>
                </c:pt>
                <c:pt idx="14">
                  <c:v>Feb20</c:v>
                </c:pt>
                <c:pt idx="15">
                  <c:v>Feb23</c:v>
                </c:pt>
                <c:pt idx="16">
                  <c:v>Feb24</c:v>
                </c:pt>
                <c:pt idx="17">
                  <c:v>Feb25</c:v>
                </c:pt>
                <c:pt idx="18">
                  <c:v>Feb26</c:v>
                </c:pt>
                <c:pt idx="19">
                  <c:v>Feb27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1000</c:v>
                </c:pt>
                <c:pt idx="1">
                  <c:v>979.67</c:v>
                </c:pt>
                <c:pt idx="2">
                  <c:v>946.15</c:v>
                </c:pt>
                <c:pt idx="3">
                  <c:v>921.48</c:v>
                </c:pt>
                <c:pt idx="4">
                  <c:v>945.19</c:v>
                </c:pt>
                <c:pt idx="5">
                  <c:v>945.19</c:v>
                </c:pt>
                <c:pt idx="6">
                  <c:v>942.11</c:v>
                </c:pt>
                <c:pt idx="7">
                  <c:v>944.49</c:v>
                </c:pt>
                <c:pt idx="8">
                  <c:v>921.13</c:v>
                </c:pt>
                <c:pt idx="9">
                  <c:v>912.4</c:v>
                </c:pt>
                <c:pt idx="10">
                  <c:v>912.4</c:v>
                </c:pt>
                <c:pt idx="11">
                  <c:v>904.67</c:v>
                </c:pt>
                <c:pt idx="12">
                  <c:v>906.24</c:v>
                </c:pt>
                <c:pt idx="13">
                  <c:v>907.5</c:v>
                </c:pt>
                <c:pt idx="14">
                  <c:v>929.44</c:v>
                </c:pt>
                <c:pt idx="15">
                  <c:v>929.44</c:v>
                </c:pt>
                <c:pt idx="16">
                  <c:v>943.16</c:v>
                </c:pt>
                <c:pt idx="17">
                  <c:v>952.8</c:v>
                </c:pt>
                <c:pt idx="18">
                  <c:v>956.1</c:v>
                </c:pt>
                <c:pt idx="19">
                  <c:v>960.68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FEB-6345-8DA9-38DF0F74D9D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Claude AI</c:v>
                </c:pt>
              </c:strCache>
            </c:strRef>
          </c:tx>
          <c:spPr>
            <a:ln w="31750" cap="flat">
              <a:solidFill>
                <a:srgbClr val="00D4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4AA"/>
              </a:solidFill>
              <a:ln w="9525" cap="flat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Feb2</c:v>
                </c:pt>
                <c:pt idx="1">
                  <c:v>Feb3</c:v>
                </c:pt>
                <c:pt idx="2">
                  <c:v>Feb4</c:v>
                </c:pt>
                <c:pt idx="3">
                  <c:v>Feb5</c:v>
                </c:pt>
                <c:pt idx="4">
                  <c:v>Feb6</c:v>
                </c:pt>
                <c:pt idx="5">
                  <c:v>Feb9</c:v>
                </c:pt>
                <c:pt idx="6">
                  <c:v>Feb10</c:v>
                </c:pt>
                <c:pt idx="7">
                  <c:v>Feb11</c:v>
                </c:pt>
                <c:pt idx="8">
                  <c:v>Feb12</c:v>
                </c:pt>
                <c:pt idx="9">
                  <c:v>Feb13</c:v>
                </c:pt>
                <c:pt idx="10">
                  <c:v>Feb16</c:v>
                </c:pt>
                <c:pt idx="11">
                  <c:v>Feb17</c:v>
                </c:pt>
                <c:pt idx="12">
                  <c:v>Feb18</c:v>
                </c:pt>
                <c:pt idx="13">
                  <c:v>Feb19</c:v>
                </c:pt>
                <c:pt idx="14">
                  <c:v>Feb20</c:v>
                </c:pt>
                <c:pt idx="15">
                  <c:v>Feb23</c:v>
                </c:pt>
                <c:pt idx="16">
                  <c:v>Feb24</c:v>
                </c:pt>
                <c:pt idx="17">
                  <c:v>Feb25</c:v>
                </c:pt>
                <c:pt idx="18">
                  <c:v>Feb26</c:v>
                </c:pt>
                <c:pt idx="19">
                  <c:v>Feb27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1000</c:v>
                </c:pt>
                <c:pt idx="1">
                  <c:v>983.83</c:v>
                </c:pt>
                <c:pt idx="2">
                  <c:v>973.29</c:v>
                </c:pt>
                <c:pt idx="3">
                  <c:v>955.39</c:v>
                </c:pt>
                <c:pt idx="4">
                  <c:v>960.21</c:v>
                </c:pt>
                <c:pt idx="5">
                  <c:v>960.21</c:v>
                </c:pt>
                <c:pt idx="6">
                  <c:v>948.32</c:v>
                </c:pt>
                <c:pt idx="7">
                  <c:v>938.33</c:v>
                </c:pt>
                <c:pt idx="8">
                  <c:v>932.94</c:v>
                </c:pt>
                <c:pt idx="9">
                  <c:v>929.83</c:v>
                </c:pt>
                <c:pt idx="10">
                  <c:v>929.83</c:v>
                </c:pt>
                <c:pt idx="11">
                  <c:v>934.11</c:v>
                </c:pt>
                <c:pt idx="12">
                  <c:v>942.65</c:v>
                </c:pt>
                <c:pt idx="13">
                  <c:v>945.89</c:v>
                </c:pt>
                <c:pt idx="14">
                  <c:v>954.32</c:v>
                </c:pt>
                <c:pt idx="15">
                  <c:v>954.32</c:v>
                </c:pt>
                <c:pt idx="16">
                  <c:v>946.5</c:v>
                </c:pt>
                <c:pt idx="17">
                  <c:v>943.2</c:v>
                </c:pt>
                <c:pt idx="18">
                  <c:v>936.8</c:v>
                </c:pt>
                <c:pt idx="19">
                  <c:v>937.97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FEB-6345-8DA9-38DF0F74D9D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DeepSeek</c:v>
                </c:pt>
              </c:strCache>
            </c:strRef>
          </c:tx>
          <c:spPr>
            <a:ln w="31750" cap="flat">
              <a:solidFill>
                <a:srgbClr val="9D7B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D7BFF"/>
              </a:solidFill>
              <a:ln w="9525" cap="flat">
                <a:solidFill>
                  <a:srgbClr val="9D7BFF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Feb2</c:v>
                </c:pt>
                <c:pt idx="1">
                  <c:v>Feb3</c:v>
                </c:pt>
                <c:pt idx="2">
                  <c:v>Feb4</c:v>
                </c:pt>
                <c:pt idx="3">
                  <c:v>Feb5</c:v>
                </c:pt>
                <c:pt idx="4">
                  <c:v>Feb6</c:v>
                </c:pt>
                <c:pt idx="5">
                  <c:v>Feb9</c:v>
                </c:pt>
                <c:pt idx="6">
                  <c:v>Feb10</c:v>
                </c:pt>
                <c:pt idx="7">
                  <c:v>Feb11</c:v>
                </c:pt>
                <c:pt idx="8">
                  <c:v>Feb12</c:v>
                </c:pt>
                <c:pt idx="9">
                  <c:v>Feb13</c:v>
                </c:pt>
                <c:pt idx="10">
                  <c:v>Feb16</c:v>
                </c:pt>
                <c:pt idx="11">
                  <c:v>Feb17</c:v>
                </c:pt>
                <c:pt idx="12">
                  <c:v>Feb18</c:v>
                </c:pt>
                <c:pt idx="13">
                  <c:v>Feb19</c:v>
                </c:pt>
                <c:pt idx="14">
                  <c:v>Feb20</c:v>
                </c:pt>
                <c:pt idx="15">
                  <c:v>Feb23</c:v>
                </c:pt>
                <c:pt idx="16">
                  <c:v>Feb24</c:v>
                </c:pt>
                <c:pt idx="17">
                  <c:v>Feb25</c:v>
                </c:pt>
                <c:pt idx="18">
                  <c:v>Feb26</c:v>
                </c:pt>
                <c:pt idx="19">
                  <c:v>Feb27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1000</c:v>
                </c:pt>
                <c:pt idx="1">
                  <c:v>971.2</c:v>
                </c:pt>
                <c:pt idx="2">
                  <c:v>953.1</c:v>
                </c:pt>
                <c:pt idx="3">
                  <c:v>928.4</c:v>
                </c:pt>
                <c:pt idx="4">
                  <c:v>946.7</c:v>
                </c:pt>
                <c:pt idx="5">
                  <c:v>946.7</c:v>
                </c:pt>
                <c:pt idx="6">
                  <c:v>931.2</c:v>
                </c:pt>
                <c:pt idx="7">
                  <c:v>924.8</c:v>
                </c:pt>
                <c:pt idx="8">
                  <c:v>896.4</c:v>
                </c:pt>
                <c:pt idx="9">
                  <c:v>910.3</c:v>
                </c:pt>
                <c:pt idx="10">
                  <c:v>910.3</c:v>
                </c:pt>
                <c:pt idx="11">
                  <c:v>903.1</c:v>
                </c:pt>
                <c:pt idx="12">
                  <c:v>871.2</c:v>
                </c:pt>
                <c:pt idx="13">
                  <c:v>856.4</c:v>
                </c:pt>
                <c:pt idx="14">
                  <c:v>842.6</c:v>
                </c:pt>
                <c:pt idx="15">
                  <c:v>842.6</c:v>
                </c:pt>
                <c:pt idx="16">
                  <c:v>855.1</c:v>
                </c:pt>
                <c:pt idx="17">
                  <c:v>868.4</c:v>
                </c:pt>
                <c:pt idx="18">
                  <c:v>856.7</c:v>
                </c:pt>
                <c:pt idx="19">
                  <c:v>857.19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DFEB-6345-8DA9-38DF0F74D9D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Grok</c:v>
                </c:pt>
              </c:strCache>
            </c:strRef>
          </c:tx>
          <c:spPr>
            <a:ln w="31750" cap="flat">
              <a:solidFill>
                <a:srgbClr val="FF4D6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4D6D"/>
              </a:solidFill>
              <a:ln w="9525" cap="flat">
                <a:solidFill>
                  <a:srgbClr val="FF4D6D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Feb2</c:v>
                </c:pt>
                <c:pt idx="1">
                  <c:v>Feb3</c:v>
                </c:pt>
                <c:pt idx="2">
                  <c:v>Feb4</c:v>
                </c:pt>
                <c:pt idx="3">
                  <c:v>Feb5</c:v>
                </c:pt>
                <c:pt idx="4">
                  <c:v>Feb6</c:v>
                </c:pt>
                <c:pt idx="5">
                  <c:v>Feb9</c:v>
                </c:pt>
                <c:pt idx="6">
                  <c:v>Feb10</c:v>
                </c:pt>
                <c:pt idx="7">
                  <c:v>Feb11</c:v>
                </c:pt>
                <c:pt idx="8">
                  <c:v>Feb12</c:v>
                </c:pt>
                <c:pt idx="9">
                  <c:v>Feb13</c:v>
                </c:pt>
                <c:pt idx="10">
                  <c:v>Feb16</c:v>
                </c:pt>
                <c:pt idx="11">
                  <c:v>Feb17</c:v>
                </c:pt>
                <c:pt idx="12">
                  <c:v>Feb18</c:v>
                </c:pt>
                <c:pt idx="13">
                  <c:v>Feb19</c:v>
                </c:pt>
                <c:pt idx="14">
                  <c:v>Feb20</c:v>
                </c:pt>
                <c:pt idx="15">
                  <c:v>Feb23</c:v>
                </c:pt>
                <c:pt idx="16">
                  <c:v>Feb24</c:v>
                </c:pt>
                <c:pt idx="17">
                  <c:v>Feb25</c:v>
                </c:pt>
                <c:pt idx="18">
                  <c:v>Feb26</c:v>
                </c:pt>
                <c:pt idx="19">
                  <c:v>Feb27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1000</c:v>
                </c:pt>
                <c:pt idx="1">
                  <c:v>960.3</c:v>
                </c:pt>
                <c:pt idx="2">
                  <c:v>940.2</c:v>
                </c:pt>
                <c:pt idx="3">
                  <c:v>908.7</c:v>
                </c:pt>
                <c:pt idx="4">
                  <c:v>926.8</c:v>
                </c:pt>
                <c:pt idx="5">
                  <c:v>926.8</c:v>
                </c:pt>
                <c:pt idx="6">
                  <c:v>906.2</c:v>
                </c:pt>
                <c:pt idx="7">
                  <c:v>879.3</c:v>
                </c:pt>
                <c:pt idx="8">
                  <c:v>848.1</c:v>
                </c:pt>
                <c:pt idx="9">
                  <c:v>874.2</c:v>
                </c:pt>
                <c:pt idx="10">
                  <c:v>874.2</c:v>
                </c:pt>
                <c:pt idx="11">
                  <c:v>856.1</c:v>
                </c:pt>
                <c:pt idx="12">
                  <c:v>844.3</c:v>
                </c:pt>
                <c:pt idx="13">
                  <c:v>829.7</c:v>
                </c:pt>
                <c:pt idx="14">
                  <c:v>833.6</c:v>
                </c:pt>
                <c:pt idx="15">
                  <c:v>833.6</c:v>
                </c:pt>
                <c:pt idx="16">
                  <c:v>835.2</c:v>
                </c:pt>
                <c:pt idx="17">
                  <c:v>838.8</c:v>
                </c:pt>
                <c:pt idx="18">
                  <c:v>832.1</c:v>
                </c:pt>
                <c:pt idx="19">
                  <c:v>837.45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DFEB-6345-8DA9-38DF0F74D9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solidFill>
            <a:schemeClr val="bg1"/>
          </a:solidFill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20"/>
          <c:min val="820"/>
        </c:scaling>
        <c:delete val="0"/>
        <c:axPos val="l"/>
        <c:majorGridlines>
          <c:spPr>
            <a:ln w="0" cap="flat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  <c:majorUnit val="40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chemeClr val="bg1"/>
    </a:solidFill>
    <a:ln>
      <a:noFill/>
    </a:ln>
    <a:effectLst/>
  </c:spPr>
  <c:txPr>
    <a:bodyPr/>
    <a:lstStyle/>
    <a:p>
      <a:pPr>
        <a:defRPr sz="1100" b="1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760" y="4190155"/>
            <a:ext cx="17099280" cy="8913707"/>
          </a:xfrm>
        </p:spPr>
        <p:txBody>
          <a:bodyPr anchor="b"/>
          <a:lstStyle>
            <a:lvl1pPr algn="ctr">
              <a:defRPr sz="1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13447609"/>
            <a:ext cx="15087600" cy="6181511"/>
          </a:xfrm>
        </p:spPr>
        <p:txBody>
          <a:bodyPr/>
          <a:lstStyle>
            <a:lvl1pPr marL="0" indent="0" algn="ctr">
              <a:buNone/>
              <a:defRPr sz="5280"/>
            </a:lvl1pPr>
            <a:lvl2pPr marL="1005840" indent="0" algn="ctr">
              <a:buNone/>
              <a:defRPr sz="4400"/>
            </a:lvl2pPr>
            <a:lvl3pPr marL="2011680" indent="0" algn="ctr">
              <a:buNone/>
              <a:defRPr sz="3960"/>
            </a:lvl3pPr>
            <a:lvl4pPr marL="3017520" indent="0" algn="ctr">
              <a:buNone/>
              <a:defRPr sz="3520"/>
            </a:lvl4pPr>
            <a:lvl5pPr marL="4023360" indent="0" algn="ctr">
              <a:buNone/>
              <a:defRPr sz="3520"/>
            </a:lvl5pPr>
            <a:lvl6pPr marL="5029200" indent="0" algn="ctr">
              <a:buNone/>
              <a:defRPr sz="3520"/>
            </a:lvl6pPr>
            <a:lvl7pPr marL="6035040" indent="0" algn="ctr">
              <a:buNone/>
              <a:defRPr sz="3520"/>
            </a:lvl7pPr>
            <a:lvl8pPr marL="7040880" indent="0" algn="ctr">
              <a:buNone/>
              <a:defRPr sz="3520"/>
            </a:lvl8pPr>
            <a:lvl9pPr marL="8046720" indent="0" algn="ctr">
              <a:buNone/>
              <a:defRPr sz="3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17EA-4D5A-42EB-A0CE-3D3308FECE4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2F34-E7CA-400A-B20A-1C9C0913F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802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17EA-4D5A-42EB-A0CE-3D3308FECE4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2F34-E7CA-400A-B20A-1C9C0913F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9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554" y="6383028"/>
            <a:ext cx="17350740" cy="10650218"/>
          </a:xfrm>
        </p:spPr>
        <p:txBody>
          <a:bodyPr anchor="b"/>
          <a:lstStyle>
            <a:lvl1pPr>
              <a:defRPr sz="1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2554" y="17134001"/>
            <a:ext cx="17350740" cy="5600698"/>
          </a:xfrm>
        </p:spPr>
        <p:txBody>
          <a:bodyPr/>
          <a:lstStyle>
            <a:lvl1pPr marL="0" indent="0">
              <a:buNone/>
              <a:defRPr sz="5280">
                <a:solidFill>
                  <a:schemeClr val="tx1"/>
                </a:solidFill>
              </a:defRPr>
            </a:lvl1pPr>
            <a:lvl2pPr marL="1005840" indent="0">
              <a:buNone/>
              <a:defRPr sz="4400">
                <a:solidFill>
                  <a:schemeClr val="tx1">
                    <a:tint val="75000"/>
                  </a:schemeClr>
                </a:solidFill>
              </a:defRPr>
            </a:lvl2pPr>
            <a:lvl3pPr marL="2011680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3pPr>
            <a:lvl4pPr marL="3017520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4pPr>
            <a:lvl5pPr marL="4023360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5pPr>
            <a:lvl6pPr marL="5029200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6pPr>
            <a:lvl7pPr marL="6035040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7pPr>
            <a:lvl8pPr marL="7040880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8pPr>
            <a:lvl9pPr marL="8046720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17EA-4D5A-42EB-A0CE-3D3308FECE4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2F34-E7CA-400A-B20A-1C9C0913F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5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3030" y="6815667"/>
            <a:ext cx="8549640" cy="1624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84130" y="6815667"/>
            <a:ext cx="8549640" cy="1624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17EA-4D5A-42EB-A0CE-3D3308FECE4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2F34-E7CA-400A-B20A-1C9C0913F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55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0" y="1363139"/>
            <a:ext cx="17350740" cy="494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652" y="6276342"/>
            <a:ext cx="8510348" cy="3075938"/>
          </a:xfrm>
        </p:spPr>
        <p:txBody>
          <a:bodyPr anchor="b"/>
          <a:lstStyle>
            <a:lvl1pPr marL="0" indent="0">
              <a:buNone/>
              <a:defRPr sz="5280" b="1"/>
            </a:lvl1pPr>
            <a:lvl2pPr marL="1005840" indent="0">
              <a:buNone/>
              <a:defRPr sz="4400" b="1"/>
            </a:lvl2pPr>
            <a:lvl3pPr marL="2011680" indent="0">
              <a:buNone/>
              <a:defRPr sz="3960" b="1"/>
            </a:lvl3pPr>
            <a:lvl4pPr marL="3017520" indent="0">
              <a:buNone/>
              <a:defRPr sz="3520" b="1"/>
            </a:lvl4pPr>
            <a:lvl5pPr marL="4023360" indent="0">
              <a:buNone/>
              <a:defRPr sz="3520" b="1"/>
            </a:lvl5pPr>
            <a:lvl6pPr marL="5029200" indent="0">
              <a:buNone/>
              <a:defRPr sz="3520" b="1"/>
            </a:lvl6pPr>
            <a:lvl7pPr marL="6035040" indent="0">
              <a:buNone/>
              <a:defRPr sz="3520" b="1"/>
            </a:lvl7pPr>
            <a:lvl8pPr marL="7040880" indent="0">
              <a:buNone/>
              <a:defRPr sz="3520" b="1"/>
            </a:lvl8pPr>
            <a:lvl9pPr marL="8046720" indent="0">
              <a:buNone/>
              <a:defRPr sz="3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652" y="9352280"/>
            <a:ext cx="8510348" cy="13755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84131" y="6276342"/>
            <a:ext cx="8552260" cy="3075938"/>
          </a:xfrm>
        </p:spPr>
        <p:txBody>
          <a:bodyPr anchor="b"/>
          <a:lstStyle>
            <a:lvl1pPr marL="0" indent="0">
              <a:buNone/>
              <a:defRPr sz="5280" b="1"/>
            </a:lvl1pPr>
            <a:lvl2pPr marL="1005840" indent="0">
              <a:buNone/>
              <a:defRPr sz="4400" b="1"/>
            </a:lvl2pPr>
            <a:lvl3pPr marL="2011680" indent="0">
              <a:buNone/>
              <a:defRPr sz="3960" b="1"/>
            </a:lvl3pPr>
            <a:lvl4pPr marL="3017520" indent="0">
              <a:buNone/>
              <a:defRPr sz="3520" b="1"/>
            </a:lvl4pPr>
            <a:lvl5pPr marL="4023360" indent="0">
              <a:buNone/>
              <a:defRPr sz="3520" b="1"/>
            </a:lvl5pPr>
            <a:lvl6pPr marL="5029200" indent="0">
              <a:buNone/>
              <a:defRPr sz="3520" b="1"/>
            </a:lvl6pPr>
            <a:lvl7pPr marL="6035040" indent="0">
              <a:buNone/>
              <a:defRPr sz="3520" b="1"/>
            </a:lvl7pPr>
            <a:lvl8pPr marL="7040880" indent="0">
              <a:buNone/>
              <a:defRPr sz="3520" b="1"/>
            </a:lvl8pPr>
            <a:lvl9pPr marL="8046720" indent="0">
              <a:buNone/>
              <a:defRPr sz="3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84131" y="9352280"/>
            <a:ext cx="8552260" cy="13755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17EA-4D5A-42EB-A0CE-3D3308FECE4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2F34-E7CA-400A-B20A-1C9C0913F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6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17EA-4D5A-42EB-A0CE-3D3308FECE4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2F34-E7CA-400A-B20A-1C9C0913F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77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17EA-4D5A-42EB-A0CE-3D3308FECE4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2F34-E7CA-400A-B20A-1C9C0913F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48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0" y="1706880"/>
            <a:ext cx="6488192" cy="5974080"/>
          </a:xfrm>
        </p:spPr>
        <p:txBody>
          <a:bodyPr anchor="b"/>
          <a:lstStyle>
            <a:lvl1pPr>
              <a:defRPr sz="7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2260" y="3686392"/>
            <a:ext cx="10184130" cy="18194867"/>
          </a:xfrm>
        </p:spPr>
        <p:txBody>
          <a:bodyPr/>
          <a:lstStyle>
            <a:lvl1pPr>
              <a:defRPr sz="7040"/>
            </a:lvl1pPr>
            <a:lvl2pPr>
              <a:defRPr sz="6160"/>
            </a:lvl2pPr>
            <a:lvl3pPr>
              <a:defRPr sz="5280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0" y="7680960"/>
            <a:ext cx="6488192" cy="14229929"/>
          </a:xfrm>
        </p:spPr>
        <p:txBody>
          <a:bodyPr/>
          <a:lstStyle>
            <a:lvl1pPr marL="0" indent="0">
              <a:buNone/>
              <a:defRPr sz="3520"/>
            </a:lvl1pPr>
            <a:lvl2pPr marL="1005840" indent="0">
              <a:buNone/>
              <a:defRPr sz="3080"/>
            </a:lvl2pPr>
            <a:lvl3pPr marL="2011680" indent="0">
              <a:buNone/>
              <a:defRPr sz="2640"/>
            </a:lvl3pPr>
            <a:lvl4pPr marL="3017520" indent="0">
              <a:buNone/>
              <a:defRPr sz="2200"/>
            </a:lvl4pPr>
            <a:lvl5pPr marL="4023360" indent="0">
              <a:buNone/>
              <a:defRPr sz="2200"/>
            </a:lvl5pPr>
            <a:lvl6pPr marL="5029200" indent="0">
              <a:buNone/>
              <a:defRPr sz="2200"/>
            </a:lvl6pPr>
            <a:lvl7pPr marL="6035040" indent="0">
              <a:buNone/>
              <a:defRPr sz="2200"/>
            </a:lvl7pPr>
            <a:lvl8pPr marL="7040880" indent="0">
              <a:buNone/>
              <a:defRPr sz="2200"/>
            </a:lvl8pPr>
            <a:lvl9pPr marL="8046720" indent="0">
              <a:buNone/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17EA-4D5A-42EB-A0CE-3D3308FECE4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2F34-E7CA-400A-B20A-1C9C0913F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44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0" y="1706880"/>
            <a:ext cx="6488192" cy="5974080"/>
          </a:xfrm>
        </p:spPr>
        <p:txBody>
          <a:bodyPr anchor="b"/>
          <a:lstStyle>
            <a:lvl1pPr>
              <a:defRPr sz="7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52260" y="3686392"/>
            <a:ext cx="10184130" cy="18194867"/>
          </a:xfrm>
        </p:spPr>
        <p:txBody>
          <a:bodyPr anchor="t"/>
          <a:lstStyle>
            <a:lvl1pPr marL="0" indent="0">
              <a:buNone/>
              <a:defRPr sz="7040"/>
            </a:lvl1pPr>
            <a:lvl2pPr marL="1005840" indent="0">
              <a:buNone/>
              <a:defRPr sz="6160"/>
            </a:lvl2pPr>
            <a:lvl3pPr marL="2011680" indent="0">
              <a:buNone/>
              <a:defRPr sz="5280"/>
            </a:lvl3pPr>
            <a:lvl4pPr marL="3017520" indent="0">
              <a:buNone/>
              <a:defRPr sz="4400"/>
            </a:lvl4pPr>
            <a:lvl5pPr marL="4023360" indent="0">
              <a:buNone/>
              <a:defRPr sz="4400"/>
            </a:lvl5pPr>
            <a:lvl6pPr marL="5029200" indent="0">
              <a:buNone/>
              <a:defRPr sz="4400"/>
            </a:lvl6pPr>
            <a:lvl7pPr marL="6035040" indent="0">
              <a:buNone/>
              <a:defRPr sz="4400"/>
            </a:lvl7pPr>
            <a:lvl8pPr marL="7040880" indent="0">
              <a:buNone/>
              <a:defRPr sz="4400"/>
            </a:lvl8pPr>
            <a:lvl9pPr marL="8046720" indent="0">
              <a:buNone/>
              <a:defRPr sz="4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0" y="7680960"/>
            <a:ext cx="6488192" cy="14229929"/>
          </a:xfrm>
        </p:spPr>
        <p:txBody>
          <a:bodyPr/>
          <a:lstStyle>
            <a:lvl1pPr marL="0" indent="0">
              <a:buNone/>
              <a:defRPr sz="3520"/>
            </a:lvl1pPr>
            <a:lvl2pPr marL="1005840" indent="0">
              <a:buNone/>
              <a:defRPr sz="3080"/>
            </a:lvl2pPr>
            <a:lvl3pPr marL="2011680" indent="0">
              <a:buNone/>
              <a:defRPr sz="2640"/>
            </a:lvl3pPr>
            <a:lvl4pPr marL="3017520" indent="0">
              <a:buNone/>
              <a:defRPr sz="2200"/>
            </a:lvl4pPr>
            <a:lvl5pPr marL="4023360" indent="0">
              <a:buNone/>
              <a:defRPr sz="2200"/>
            </a:lvl5pPr>
            <a:lvl6pPr marL="5029200" indent="0">
              <a:buNone/>
              <a:defRPr sz="2200"/>
            </a:lvl6pPr>
            <a:lvl7pPr marL="6035040" indent="0">
              <a:buNone/>
              <a:defRPr sz="2200"/>
            </a:lvl7pPr>
            <a:lvl8pPr marL="7040880" indent="0">
              <a:buNone/>
              <a:defRPr sz="2200"/>
            </a:lvl8pPr>
            <a:lvl9pPr marL="8046720" indent="0">
              <a:buNone/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17EA-4D5A-42EB-A0CE-3D3308FECE4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2F34-E7CA-400A-B20A-1C9C0913F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91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17EA-4D5A-42EB-A0CE-3D3308FECE4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2F34-E7CA-400A-B20A-1C9C0913F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7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96086" y="1363133"/>
            <a:ext cx="4337685" cy="216975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3031" y="1363133"/>
            <a:ext cx="12761595" cy="216975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17EA-4D5A-42EB-A0CE-3D3308FECE4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22F34-E7CA-400A-B20A-1C9C0913F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0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3030" y="1363139"/>
            <a:ext cx="17350740" cy="4948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3030" y="6815667"/>
            <a:ext cx="17350740" cy="16244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3030" y="23730379"/>
            <a:ext cx="4526280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D17EA-4D5A-42EB-A0CE-3D3308FECE4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63690" y="23730379"/>
            <a:ext cx="6789420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7490" y="23730379"/>
            <a:ext cx="4526280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22F34-E7CA-400A-B20A-1C9C0913F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91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011680" rtl="0" eaLnBrk="1" latinLnBrk="0" hangingPunct="1">
        <a:lnSpc>
          <a:spcPct val="90000"/>
        </a:lnSpc>
        <a:spcBef>
          <a:spcPct val="0"/>
        </a:spcBef>
        <a:buNone/>
        <a:defRPr sz="96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2920" indent="-502920" algn="l" defTabSz="2011680" rtl="0" eaLnBrk="1" latinLnBrk="0" hangingPunct="1">
        <a:lnSpc>
          <a:spcPct val="90000"/>
        </a:lnSpc>
        <a:spcBef>
          <a:spcPts val="2200"/>
        </a:spcBef>
        <a:buFont typeface="Arial" panose="020B0604020202020204" pitchFamily="34" charset="0"/>
        <a:buChar char="•"/>
        <a:defRPr sz="6160" kern="1200">
          <a:solidFill>
            <a:schemeClr val="tx1"/>
          </a:solidFill>
          <a:latin typeface="+mn-lt"/>
          <a:ea typeface="+mn-ea"/>
          <a:cs typeface="+mn-cs"/>
        </a:defRPr>
      </a:lvl1pPr>
      <a:lvl2pPr marL="150876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2pPr>
      <a:lvl3pPr marL="251460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4400" kern="1200">
          <a:solidFill>
            <a:schemeClr val="tx1"/>
          </a:solidFill>
          <a:latin typeface="+mn-lt"/>
          <a:ea typeface="+mn-ea"/>
          <a:cs typeface="+mn-cs"/>
        </a:defRPr>
      </a:lvl3pPr>
      <a:lvl4pPr marL="352044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4pPr>
      <a:lvl5pPr marL="452628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5pPr>
      <a:lvl6pPr marL="553212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6pPr>
      <a:lvl7pPr marL="653796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7pPr>
      <a:lvl8pPr marL="754380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8pPr>
      <a:lvl9pPr marL="854964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1pPr>
      <a:lvl2pPr marL="100584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2pPr>
      <a:lvl3pPr marL="201168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3pPr>
      <a:lvl4pPr marL="301752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4pPr>
      <a:lvl5pPr marL="402336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6pPr>
      <a:lvl7pPr marL="603504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7pPr>
      <a:lvl8pPr marL="704088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8pPr>
      <a:lvl9pPr marL="804672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hart" Target="../charts/chart1.xml"/><Relationship Id="rId7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791BC-697C-D481-1CAB-D98F9C66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5EB159D-EA30-E970-A53B-E297D487DD50}"/>
              </a:ext>
            </a:extLst>
          </p:cNvPr>
          <p:cNvSpPr/>
          <p:nvPr/>
        </p:nvSpPr>
        <p:spPr>
          <a:xfrm>
            <a:off x="-2948" y="-5730"/>
            <a:ext cx="20116800" cy="3444843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B2160A-645B-939C-831B-D9BD620D284D}"/>
              </a:ext>
            </a:extLst>
          </p:cNvPr>
          <p:cNvSpPr txBox="1"/>
          <p:nvPr/>
        </p:nvSpPr>
        <p:spPr>
          <a:xfrm>
            <a:off x="82583" y="5393525"/>
            <a:ext cx="5077440" cy="7048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Large language models (LLMs) are increasingly used to assist in financial decision-making. But how effective are they at selecting stocks? This study puts four leading AI systems ( Deep Seek , Grok , Chat GPT, Claude AI ) head-to-head in a live, unmanipulated portfolio simulation over February 2026.</a:t>
            </a:r>
          </a:p>
          <a:p>
            <a:pPr>
              <a:lnSpc>
                <a:spcPct val="30000"/>
              </a:lnSpc>
            </a:pPr>
            <a:endParaRPr lang="en-US" sz="2000" dirty="0"/>
          </a:p>
          <a:p>
            <a:r>
              <a:rPr lang="en-US" sz="2000" dirty="0"/>
              <a:t>Each model received $1,000 in virtual capital and was prompted weekly to build a portfolio of US equities from scratch. No human guidance on picks was applied. Portfolios were tracked daily using Yahoo Finance closing prices, rebalanced every Monday, and benchmarked against the S&amp;P 500 (SPY).</a:t>
            </a:r>
          </a:p>
          <a:p>
            <a:pPr>
              <a:lnSpc>
                <a:spcPct val="30000"/>
              </a:lnSpc>
            </a:pPr>
            <a:endParaRPr lang="en-US" sz="2000" dirty="0"/>
          </a:p>
          <a:p>
            <a:r>
              <a:rPr lang="en-US" sz="2000" dirty="0"/>
              <a:t>Results reveal stark differences in strategy, risk tolerance, and capital preservation. ChatGPT maintained the strongest performance with key contrarian picks - while Claude AI was most consistent and Grok and DeepSeek took aggressive leveraged positions that backfired.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9E7458-B3A3-28D9-23FE-E34158121A77}"/>
              </a:ext>
            </a:extLst>
          </p:cNvPr>
          <p:cNvSpPr txBox="1"/>
          <p:nvPr/>
        </p:nvSpPr>
        <p:spPr>
          <a:xfrm>
            <a:off x="14842464" y="13070850"/>
            <a:ext cx="5309146" cy="5375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9546" indent="-209546">
              <a:spcAft>
                <a:spcPts val="147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ChatGPT ranked #1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1E1E1E"/>
                </a:solidFill>
              </a:rPr>
              <a:t>overall, driven by high-conviction contrarian picks in Week 4 (FSLY +107%, VAL +65%) that overcame earlier losses decisively.</a:t>
            </a:r>
          </a:p>
          <a:p>
            <a:pPr marL="209546" indent="-209546">
              <a:spcAft>
                <a:spcPts val="147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All 4 LLMs underperformed the S&amp;P 500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1E1E1E"/>
                </a:solidFill>
              </a:rPr>
              <a:t>(−1.40%), suggesting passive indexing still outperforms AI-driven active stock-picking even after accounting for Feb’s market decline.</a:t>
            </a:r>
          </a:p>
          <a:p>
            <a:pPr marL="209546" indent="-209546">
              <a:spcAft>
                <a:spcPts val="147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NVDA was the consensus pick, </a:t>
            </a:r>
            <a:r>
              <a:rPr lang="en-US" sz="2000" dirty="0">
                <a:solidFill>
                  <a:srgbClr val="1E1E1E"/>
                </a:solidFill>
              </a:rPr>
              <a:t>held by every LLM in most weeks -  suggesting strong shared conviction in AI-infrastructure stocks.</a:t>
            </a:r>
          </a:p>
          <a:p>
            <a:pPr marL="209546" indent="-209546">
              <a:spcAft>
                <a:spcPts val="147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ChatGPT’s Week 4 recovery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1E1E1E"/>
                </a:solidFill>
              </a:rPr>
              <a:t>via FSLY (+107%) and VAL (+65%) shows LLMs can make high-conviction contrarian calls that pay off - propelling it to the top ranking.</a:t>
            </a:r>
          </a:p>
          <a:p>
            <a:pPr marL="209546" indent="-209546">
              <a:spcAft>
                <a:spcPts val="147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1E1E"/>
                </a:solidFill>
              </a:rPr>
              <a:t>Not a single LLM beat the S&amp;P 500 during our test period (February 2026)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BE1A52D-A5F2-7198-9993-F7F2CD4ED2BA}"/>
              </a:ext>
            </a:extLst>
          </p:cNvPr>
          <p:cNvSpPr/>
          <p:nvPr/>
        </p:nvSpPr>
        <p:spPr>
          <a:xfrm>
            <a:off x="-24250" y="378700"/>
            <a:ext cx="2200560" cy="21564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3985A4B-B0CC-8CA4-A945-75018D2A7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0" y="994642"/>
            <a:ext cx="1825500" cy="1131973"/>
          </a:xfrm>
          <a:prstGeom prst="rect">
            <a:avLst/>
          </a:prstGeom>
        </p:spPr>
      </p:pic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0DE3170E-9D79-6A5A-0936-5DBD87C84C50}"/>
              </a:ext>
            </a:extLst>
          </p:cNvPr>
          <p:cNvSpPr txBox="1">
            <a:spLocks/>
          </p:cNvSpPr>
          <p:nvPr/>
        </p:nvSpPr>
        <p:spPr>
          <a:xfrm>
            <a:off x="2596297" y="378701"/>
            <a:ext cx="14845675" cy="696820"/>
          </a:xfrm>
          <a:prstGeom prst="rect">
            <a:avLst/>
          </a:prstGeom>
        </p:spPr>
        <p:txBody>
          <a:bodyPr vert="horz" lIns="55880" tIns="27940" rIns="55880" bIns="2794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3"/>
              </a:spcBef>
            </a:pP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183"/>
              </a:spcBef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  LIVE  PORTFOLIO  BATTLE</a:t>
            </a: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spcBef>
                <a:spcPts val="183"/>
              </a:spcBef>
            </a:pPr>
            <a:endParaRPr lang="tr-TR" sz="171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8046183E-896C-C8EA-6E3B-CFF2A272DDF8}"/>
              </a:ext>
            </a:extLst>
          </p:cNvPr>
          <p:cNvSpPr txBox="1">
            <a:spLocks/>
          </p:cNvSpPr>
          <p:nvPr/>
        </p:nvSpPr>
        <p:spPr>
          <a:xfrm>
            <a:off x="820495" y="4698176"/>
            <a:ext cx="3659394" cy="489063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ABSTRACT  &amp;  INTRODUCTION</a:t>
            </a:r>
            <a:endParaRPr lang="en-US" sz="20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9249C3B8-3CD5-45C5-3353-64B53F797D89}"/>
              </a:ext>
            </a:extLst>
          </p:cNvPr>
          <p:cNvSpPr txBox="1">
            <a:spLocks/>
          </p:cNvSpPr>
          <p:nvPr/>
        </p:nvSpPr>
        <p:spPr>
          <a:xfrm>
            <a:off x="5868981" y="8258178"/>
            <a:ext cx="8124371" cy="54122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78" b="1" dirty="0">
                <a:latin typeface="Cambria" panose="02040503050406030204" pitchFamily="18" charset="0"/>
                <a:ea typeface="Cambria" panose="02040503050406030204" pitchFamily="18" charset="0"/>
              </a:rPr>
              <a:t>CUMULATIVE  PORTFOLIO  VALUE  vs  S&amp;P 500</a:t>
            </a: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B58C2A4C-CA0A-55A0-F241-74B7E83148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3200466"/>
              </p:ext>
            </p:extLst>
          </p:nvPr>
        </p:nvGraphicFramePr>
        <p:xfrm>
          <a:off x="5721010" y="6206446"/>
          <a:ext cx="8495037" cy="53235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2">
            <a:extLst>
              <a:ext uri="{FF2B5EF4-FFF2-40B4-BE49-F238E27FC236}">
                <a16:creationId xmlns:a16="http://schemas.microsoft.com/office/drawing/2014/main" id="{98F01088-2BAD-80A8-0E0B-5B863BA39D1F}"/>
              </a:ext>
            </a:extLst>
          </p:cNvPr>
          <p:cNvSpPr/>
          <p:nvPr/>
        </p:nvSpPr>
        <p:spPr>
          <a:xfrm flipV="1">
            <a:off x="-18948" y="3424718"/>
            <a:ext cx="20116800" cy="338894"/>
          </a:xfrm>
          <a:prstGeom prst="rect">
            <a:avLst/>
          </a:prstGeom>
          <a:solidFill>
            <a:srgbClr val="FF000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8B6A043-B61B-8017-0A1D-D8C8C2556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866762"/>
              </p:ext>
            </p:extLst>
          </p:nvPr>
        </p:nvGraphicFramePr>
        <p:xfrm>
          <a:off x="-18948" y="3754013"/>
          <a:ext cx="20116800" cy="536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0">
                  <a:extLst>
                    <a:ext uri="{9D8B030D-6E8A-4147-A177-3AD203B41FA5}">
                      <a16:colId xmlns:a16="http://schemas.microsoft.com/office/drawing/2014/main" val="529419722"/>
                    </a:ext>
                  </a:extLst>
                </a:gridCol>
              </a:tblGrid>
              <a:tr h="536799">
                <a:tc>
                  <a:txBody>
                    <a:bodyPr/>
                    <a:lstStyle/>
                    <a:p>
                      <a:pPr marL="0" marR="0" lvl="0" indent="0" algn="l" defTabSz="292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                                                                Key Findings : All four LLMs underperformed the S&amp;P 500 in February 2026, yet ChatGPT was the clear leader — losing only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-3.93%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vs GROK's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-16.25%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a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$123 spread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between best and worst on identical starting capital. 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880" marR="55880" marT="27940" marB="2794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654971"/>
                  </a:ext>
                </a:extLst>
              </a:tr>
            </a:tbl>
          </a:graphicData>
        </a:graphic>
      </p:graphicFrame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9215F75D-7EF6-9B65-FCA9-5CB633D5BDE1}"/>
              </a:ext>
            </a:extLst>
          </p:cNvPr>
          <p:cNvSpPr txBox="1">
            <a:spLocks/>
          </p:cNvSpPr>
          <p:nvPr/>
        </p:nvSpPr>
        <p:spPr>
          <a:xfrm>
            <a:off x="707000" y="14676368"/>
            <a:ext cx="3659394" cy="489063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1956" b="1" dirty="0">
                <a:latin typeface="Cambria" panose="02040503050406030204" pitchFamily="18" charset="0"/>
                <a:ea typeface="Cambria" panose="02040503050406030204" pitchFamily="18" charset="0"/>
              </a:rPr>
              <a:t>LITERATURE  REVIEW</a:t>
            </a:r>
            <a:endParaRPr lang="en-US" sz="978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DDE0DF-9F95-F729-3C68-92FC3C4402DA}"/>
              </a:ext>
            </a:extLst>
          </p:cNvPr>
          <p:cNvSpPr txBox="1"/>
          <p:nvPr/>
        </p:nvSpPr>
        <p:spPr>
          <a:xfrm>
            <a:off x="66741" y="13619414"/>
            <a:ext cx="5225255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Recent studies suggest LLMs show promise in financial decision-making. Kirk (2025a, 2025b) demonstrates ChatGPT can construct diversified portfolios, finding distinct risk styles across models. Ko and Lee (2024) confirm ChatGPT-generated portfolios show greater diversity than random selection, improving portfolio efficiency. Romanko et al. (2023) show a ChatGPT-selected S&amp;P 500 portfolio can outperform benchmark strategies in controlled settings. Lopez-Lira and Tang (2023) find ChatGPT sentiment signals positively predict short-term stock returns. However, none of these studies test multiple LLMs head-to-head under identical live capital constraints. </a:t>
            </a:r>
          </a:p>
          <a:p>
            <a:r>
              <a:rPr lang="en-US" sz="2000" dirty="0"/>
              <a:t>This study addresses that gap - running four leading LLMs simultaneously with $1,000 each on real U.S. equities over February 2026, with no human override, measuring actual daily performance against the S&amp;P 500.</a:t>
            </a:r>
          </a:p>
        </p:txBody>
      </p:sp>
      <p:pic>
        <p:nvPicPr>
          <p:cNvPr id="59" name="Picture 58" descr="A screenshot of a graph&#10;&#10;AI-generated content may be incorrect.">
            <a:extLst>
              <a:ext uri="{FF2B5EF4-FFF2-40B4-BE49-F238E27FC236}">
                <a16:creationId xmlns:a16="http://schemas.microsoft.com/office/drawing/2014/main" id="{FB73D2B9-9CF8-1E39-65D1-3D994ADED8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442" y="18241902"/>
            <a:ext cx="3426273" cy="2760228"/>
          </a:xfrm>
          <a:prstGeom prst="rect">
            <a:avLst/>
          </a:prstGeom>
        </p:spPr>
      </p:pic>
      <p:pic>
        <p:nvPicPr>
          <p:cNvPr id="1024" name="Picture 1023" descr="A screenshot of a graph&#10;&#10;AI-generated content may be incorrect.">
            <a:extLst>
              <a:ext uri="{FF2B5EF4-FFF2-40B4-BE49-F238E27FC236}">
                <a16:creationId xmlns:a16="http://schemas.microsoft.com/office/drawing/2014/main" id="{0E4B69BB-8F90-2097-4648-14BD88EF6A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003" y="21883743"/>
            <a:ext cx="3426272" cy="2541584"/>
          </a:xfrm>
          <a:prstGeom prst="rect">
            <a:avLst/>
          </a:prstGeom>
        </p:spPr>
      </p:pic>
      <p:pic>
        <p:nvPicPr>
          <p:cNvPr id="1031" name="Picture 1030" descr="A screenshot of a graph&#10;&#10;AI-generated content may be incorrect.">
            <a:extLst>
              <a:ext uri="{FF2B5EF4-FFF2-40B4-BE49-F238E27FC236}">
                <a16:creationId xmlns:a16="http://schemas.microsoft.com/office/drawing/2014/main" id="{9F7D92AF-07AD-547F-1E26-55155EAF68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403" y="18172960"/>
            <a:ext cx="3328956" cy="2908654"/>
          </a:xfrm>
          <a:prstGeom prst="rect">
            <a:avLst/>
          </a:prstGeom>
        </p:spPr>
      </p:pic>
      <p:sp>
        <p:nvSpPr>
          <p:cNvPr id="1039" name="Text Placeholder 5">
            <a:extLst>
              <a:ext uri="{FF2B5EF4-FFF2-40B4-BE49-F238E27FC236}">
                <a16:creationId xmlns:a16="http://schemas.microsoft.com/office/drawing/2014/main" id="{34799C41-539A-BD55-472E-A41E0AF6E53D}"/>
              </a:ext>
            </a:extLst>
          </p:cNvPr>
          <p:cNvSpPr txBox="1">
            <a:spLocks/>
          </p:cNvSpPr>
          <p:nvPr/>
        </p:nvSpPr>
        <p:spPr>
          <a:xfrm>
            <a:off x="409017" y="20235508"/>
            <a:ext cx="4070872" cy="566351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   METHODOLOGY  &amp;  SETUP</a:t>
            </a:r>
            <a:endParaRPr lang="en-US" sz="24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3" name="Text Placeholder 5">
            <a:extLst>
              <a:ext uri="{FF2B5EF4-FFF2-40B4-BE49-F238E27FC236}">
                <a16:creationId xmlns:a16="http://schemas.microsoft.com/office/drawing/2014/main" id="{F499F96C-CD5D-DF43-0E9B-8FABA4E1A133}"/>
              </a:ext>
            </a:extLst>
          </p:cNvPr>
          <p:cNvSpPr txBox="1">
            <a:spLocks/>
          </p:cNvSpPr>
          <p:nvPr/>
        </p:nvSpPr>
        <p:spPr>
          <a:xfrm>
            <a:off x="5506917" y="14912729"/>
            <a:ext cx="8014059" cy="609740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1956" b="1" dirty="0">
                <a:latin typeface="Cambria" panose="02040503050406030204" pitchFamily="18" charset="0"/>
                <a:ea typeface="Cambria" panose="02040503050406030204" pitchFamily="18" charset="0"/>
              </a:rPr>
              <a:t>Weekly Portfolio Allocations by LLM - Weights (%), and Shares</a:t>
            </a:r>
          </a:p>
        </p:txBody>
      </p:sp>
      <p:sp>
        <p:nvSpPr>
          <p:cNvPr id="1052" name="Text Placeholder 5">
            <a:extLst>
              <a:ext uri="{FF2B5EF4-FFF2-40B4-BE49-F238E27FC236}">
                <a16:creationId xmlns:a16="http://schemas.microsoft.com/office/drawing/2014/main" id="{CD9B83D3-A940-FA9C-ADF1-56B6460A4964}"/>
              </a:ext>
            </a:extLst>
          </p:cNvPr>
          <p:cNvSpPr txBox="1">
            <a:spLocks/>
          </p:cNvSpPr>
          <p:nvPr/>
        </p:nvSpPr>
        <p:spPr>
          <a:xfrm>
            <a:off x="16526693" y="10477786"/>
            <a:ext cx="2167837" cy="477440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2078" b="1" dirty="0">
                <a:latin typeface="Cambria" panose="02040503050406030204" pitchFamily="18" charset="0"/>
                <a:ea typeface="Cambria" panose="02040503050406030204" pitchFamily="18" charset="0"/>
              </a:rPr>
              <a:t>KEY  STATISTICS</a:t>
            </a:r>
            <a:endParaRPr lang="en-US" sz="2078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D598998D-E168-C6FB-FE46-592B47DF5E19}"/>
              </a:ext>
            </a:extLst>
          </p:cNvPr>
          <p:cNvSpPr txBox="1"/>
          <p:nvPr/>
        </p:nvSpPr>
        <p:spPr>
          <a:xfrm>
            <a:off x="3297566" y="2693373"/>
            <a:ext cx="2353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📅  </a:t>
            </a:r>
            <a:r>
              <a:rPr lang="en-US" sz="1600" b="1" dirty="0">
                <a:solidFill>
                  <a:schemeClr val="bg1"/>
                </a:solidFill>
              </a:rPr>
              <a:t>Feb 2 – Feb 27, 2026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64" name="Terminator 1063">
            <a:extLst>
              <a:ext uri="{FF2B5EF4-FFF2-40B4-BE49-F238E27FC236}">
                <a16:creationId xmlns:a16="http://schemas.microsoft.com/office/drawing/2014/main" id="{A126A71F-C489-0C58-EACC-BA168423B3D2}"/>
              </a:ext>
            </a:extLst>
          </p:cNvPr>
          <p:cNvSpPr/>
          <p:nvPr/>
        </p:nvSpPr>
        <p:spPr>
          <a:xfrm>
            <a:off x="3081480" y="2496966"/>
            <a:ext cx="2569827" cy="656250"/>
          </a:xfrm>
          <a:prstGeom prst="flowChartTermina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</a:endParaRPr>
          </a:p>
        </p:txBody>
      </p:sp>
      <p:pic>
        <p:nvPicPr>
          <p:cNvPr id="1101" name="Picture 1100" descr="A screenshot of a website&#10;&#10;AI-generated content may be incorrect.">
            <a:extLst>
              <a:ext uri="{FF2B5EF4-FFF2-40B4-BE49-F238E27FC236}">
                <a16:creationId xmlns:a16="http://schemas.microsoft.com/office/drawing/2014/main" id="{2FBD02E2-CED1-432E-F886-2E44B37CB0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08" y="21528810"/>
            <a:ext cx="4627475" cy="3336818"/>
          </a:xfrm>
          <a:prstGeom prst="rect">
            <a:avLst/>
          </a:prstGeom>
        </p:spPr>
      </p:pic>
      <p:pic>
        <p:nvPicPr>
          <p:cNvPr id="1105" name="Picture 1104" descr="A screenshot of a graph&#10;&#10;AI-generated content may be incorrect.">
            <a:extLst>
              <a:ext uri="{FF2B5EF4-FFF2-40B4-BE49-F238E27FC236}">
                <a16:creationId xmlns:a16="http://schemas.microsoft.com/office/drawing/2014/main" id="{4443BC46-DA9F-1EE6-9B5C-998A79BE46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5277" y="9605397"/>
            <a:ext cx="3755447" cy="1873785"/>
          </a:xfrm>
          <a:prstGeom prst="rect">
            <a:avLst/>
          </a:prstGeom>
        </p:spPr>
      </p:pic>
      <p:pic>
        <p:nvPicPr>
          <p:cNvPr id="1109" name="Picture 1108" descr="A screenshot of a chart&#10;&#10;AI-generated content may be incorrect.">
            <a:extLst>
              <a:ext uri="{FF2B5EF4-FFF2-40B4-BE49-F238E27FC236}">
                <a16:creationId xmlns:a16="http://schemas.microsoft.com/office/drawing/2014/main" id="{BBA5D3EA-750A-AD95-9C05-A5E02DDDD6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402" y="21883743"/>
            <a:ext cx="3285397" cy="2552809"/>
          </a:xfrm>
          <a:prstGeom prst="rect">
            <a:avLst/>
          </a:prstGeom>
        </p:spPr>
      </p:pic>
      <p:pic>
        <p:nvPicPr>
          <p:cNvPr id="1117" name="Picture 1116" descr="A colorful rectangular object with text&#10;&#10;AI-generated content may be incorrect.">
            <a:extLst>
              <a:ext uri="{FF2B5EF4-FFF2-40B4-BE49-F238E27FC236}">
                <a16:creationId xmlns:a16="http://schemas.microsoft.com/office/drawing/2014/main" id="{46292843-1270-76A9-01C1-933CE77AFF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788" y="12370394"/>
            <a:ext cx="9010143" cy="3437249"/>
          </a:xfrm>
          <a:prstGeom prst="rect">
            <a:avLst/>
          </a:prstGeom>
        </p:spPr>
      </p:pic>
      <p:pic>
        <p:nvPicPr>
          <p:cNvPr id="3" name="Picture 2" descr="A green and blue qr code&#10;&#10;AI-generated content may be incorrect.">
            <a:extLst>
              <a:ext uri="{FF2B5EF4-FFF2-40B4-BE49-F238E27FC236}">
                <a16:creationId xmlns:a16="http://schemas.microsoft.com/office/drawing/2014/main" id="{C8A0FD8C-4E5C-7A34-F3F5-2DC21FF073C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7592" y="5347361"/>
            <a:ext cx="2910817" cy="29108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2D70A0-4FFB-9557-0DDC-AC954275ACDD}"/>
              </a:ext>
            </a:extLst>
          </p:cNvPr>
          <p:cNvSpPr txBox="1"/>
          <p:nvPr/>
        </p:nvSpPr>
        <p:spPr>
          <a:xfrm>
            <a:off x="14800372" y="19927063"/>
            <a:ext cx="5283200" cy="5388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9546" indent="-209546">
              <a:spcAft>
                <a:spcPts val="147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1E1E"/>
                </a:solidFill>
              </a:rPr>
              <a:t>Erdem O. (2025) </a:t>
            </a:r>
            <a:r>
              <a:rPr lang="en-US" sz="2000" dirty="0">
                <a:solidFill>
                  <a:srgbClr val="FF0000"/>
                </a:solidFill>
              </a:rPr>
              <a:t>Can ChatGPT Outsmart the Market? </a:t>
            </a:r>
            <a:r>
              <a:rPr lang="en-US" sz="2000" dirty="0"/>
              <a:t>SSRN</a:t>
            </a:r>
          </a:p>
          <a:p>
            <a:pPr marL="209546" indent="-209546">
              <a:spcAft>
                <a:spcPts val="147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1E1E"/>
                </a:solidFill>
              </a:rPr>
              <a:t>Kirk, M. (2025a). </a:t>
            </a:r>
            <a:r>
              <a:rPr lang="en-US" sz="2000" dirty="0">
                <a:solidFill>
                  <a:srgbClr val="FF0000"/>
                </a:solidFill>
              </a:rPr>
              <a:t>Can ChatGPT build a financial portfolio? </a:t>
            </a:r>
            <a:r>
              <a:rPr lang="en-US" sz="2000" dirty="0">
                <a:solidFill>
                  <a:srgbClr val="1E1E1E"/>
                </a:solidFill>
              </a:rPr>
              <a:t>Financial Times.</a:t>
            </a:r>
          </a:p>
          <a:p>
            <a:pPr marL="209546" indent="-209546">
              <a:spcAft>
                <a:spcPts val="147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1E1E"/>
                </a:solidFill>
              </a:rPr>
              <a:t>Kirk, M. (2025b). </a:t>
            </a:r>
            <a:r>
              <a:rPr lang="en-US" sz="2000" dirty="0">
                <a:solidFill>
                  <a:srgbClr val="FF0000"/>
                </a:solidFill>
              </a:rPr>
              <a:t>Eight LLMs, one prompt: Who builds the best portfolio? </a:t>
            </a:r>
            <a:r>
              <a:rPr lang="en-US" sz="2000" dirty="0">
                <a:solidFill>
                  <a:srgbClr val="1E1E1E"/>
                </a:solidFill>
              </a:rPr>
              <a:t>Financial Times.</a:t>
            </a:r>
          </a:p>
          <a:p>
            <a:pPr marL="209546" indent="-209546">
              <a:spcAft>
                <a:spcPts val="147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Lopez-Lira, T., &amp; Tang, Y. (2023). </a:t>
            </a:r>
            <a:r>
              <a:rPr lang="en-US" sz="2000" dirty="0">
                <a:solidFill>
                  <a:srgbClr val="FF0000"/>
                </a:solidFill>
              </a:rPr>
              <a:t>Can ChatGPT forecast stock price movements? </a:t>
            </a:r>
            <a:r>
              <a:rPr lang="en-US" sz="2000" i="1" dirty="0"/>
              <a:t>Working Paper</a:t>
            </a:r>
            <a:endParaRPr lang="en-US" sz="2000" dirty="0">
              <a:solidFill>
                <a:srgbClr val="1E1E1E"/>
              </a:solidFill>
            </a:endParaRPr>
          </a:p>
          <a:p>
            <a:pPr marL="209546" indent="-209546">
              <a:spcAft>
                <a:spcPts val="147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1E1E"/>
                </a:solidFill>
              </a:rPr>
              <a:t>Ko, H., &amp; Lee, J. (2024). </a:t>
            </a:r>
            <a:r>
              <a:rPr lang="en-US" sz="2000" dirty="0">
                <a:solidFill>
                  <a:srgbClr val="FF0000"/>
                </a:solidFill>
              </a:rPr>
              <a:t>Can ChatGPT improve investment decisions? From a portfolio management perspective. </a:t>
            </a:r>
            <a:r>
              <a:rPr lang="en-US" sz="2000" dirty="0">
                <a:solidFill>
                  <a:srgbClr val="1E1E1E"/>
                </a:solidFill>
              </a:rPr>
              <a:t>Finance Research Letters, 64, 105433.</a:t>
            </a:r>
          </a:p>
          <a:p>
            <a:pPr marL="209546" indent="-209546">
              <a:spcAft>
                <a:spcPts val="147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1E1E"/>
                </a:solidFill>
              </a:rPr>
              <a:t>Romanko, O., Narayan, A., &amp; Kwon, R. H. (2023). </a:t>
            </a:r>
            <a:r>
              <a:rPr lang="en-US" sz="2000" dirty="0">
                <a:solidFill>
                  <a:srgbClr val="FF0000"/>
                </a:solidFill>
              </a:rPr>
              <a:t>ChatGPT-based investment portfolio selection. Operations Research Forum, </a:t>
            </a:r>
            <a:r>
              <a:rPr lang="en-US" sz="2000" dirty="0">
                <a:solidFill>
                  <a:srgbClr val="1E1E1E"/>
                </a:solidFill>
              </a:rPr>
              <a:t>4(4), 91. Springer.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C47E30-113E-C2DF-3DC3-D9388A5571A8}"/>
              </a:ext>
            </a:extLst>
          </p:cNvPr>
          <p:cNvSpPr txBox="1">
            <a:spLocks/>
          </p:cNvSpPr>
          <p:nvPr/>
        </p:nvSpPr>
        <p:spPr>
          <a:xfrm>
            <a:off x="748802" y="13002852"/>
            <a:ext cx="3659394" cy="489063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LITERATURE  REVIEW</a:t>
            </a:r>
            <a:endParaRPr lang="en-US" sz="24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650BC7C-D4AC-0BB7-1C4E-2B8D462592B6}"/>
              </a:ext>
            </a:extLst>
          </p:cNvPr>
          <p:cNvSpPr txBox="1">
            <a:spLocks/>
          </p:cNvSpPr>
          <p:nvPr/>
        </p:nvSpPr>
        <p:spPr>
          <a:xfrm>
            <a:off x="14627841" y="4722041"/>
            <a:ext cx="5124264" cy="430110"/>
          </a:xfrm>
          <a:prstGeom prst="rect">
            <a:avLst/>
          </a:prstGeom>
        </p:spPr>
        <p:txBody>
          <a:bodyPr vert="horz" lIns="55880" tIns="55880" rIns="55880" bIns="5588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2078" b="1" dirty="0">
                <a:latin typeface="Cambria" panose="02040503050406030204" pitchFamily="18" charset="0"/>
                <a:ea typeface="Cambria" panose="02040503050406030204" pitchFamily="18" charset="0"/>
              </a:rPr>
              <a:t>           SCAN HERE FOR LIVE UPDATES 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74FD9DB-D043-CDE3-3BAE-A87CA923580B}"/>
              </a:ext>
            </a:extLst>
          </p:cNvPr>
          <p:cNvSpPr txBox="1">
            <a:spLocks/>
          </p:cNvSpPr>
          <p:nvPr/>
        </p:nvSpPr>
        <p:spPr>
          <a:xfrm>
            <a:off x="6023475" y="4721608"/>
            <a:ext cx="8124371" cy="54122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78" b="1" dirty="0">
                <a:latin typeface="Cambria" panose="02040503050406030204" pitchFamily="18" charset="0"/>
                <a:ea typeface="Cambria" panose="02040503050406030204" pitchFamily="18" charset="0"/>
              </a:rPr>
              <a:t>CUMULATIVE  PORTFOLIO  VALUE  vs  S&amp;P 500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827AB7-BE93-3D83-3F0D-77EFDFCC3F12}"/>
              </a:ext>
            </a:extLst>
          </p:cNvPr>
          <p:cNvSpPr/>
          <p:nvPr/>
        </p:nvSpPr>
        <p:spPr>
          <a:xfrm>
            <a:off x="5506917" y="16370299"/>
            <a:ext cx="9120924" cy="1062907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C9B0955-9648-1119-76B1-CBA0CE9B9859}"/>
              </a:ext>
            </a:extLst>
          </p:cNvPr>
          <p:cNvSpPr txBox="1">
            <a:spLocks/>
          </p:cNvSpPr>
          <p:nvPr/>
        </p:nvSpPr>
        <p:spPr>
          <a:xfrm>
            <a:off x="5662462" y="16598295"/>
            <a:ext cx="8743492" cy="567585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Weekly Portfolio Allocations by LLM - Weights (%) &amp;  Shares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CE2FD4-7162-C969-BECD-F7F5AC938F88}"/>
              </a:ext>
            </a:extLst>
          </p:cNvPr>
          <p:cNvSpPr/>
          <p:nvPr/>
        </p:nvSpPr>
        <p:spPr>
          <a:xfrm>
            <a:off x="0" y="12607302"/>
            <a:ext cx="5225255" cy="79576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4089FCD-E6C6-BF8A-C73C-6828E7C50EB4}"/>
              </a:ext>
            </a:extLst>
          </p:cNvPr>
          <p:cNvSpPr txBox="1">
            <a:spLocks/>
          </p:cNvSpPr>
          <p:nvPr/>
        </p:nvSpPr>
        <p:spPr>
          <a:xfrm>
            <a:off x="707000" y="12734801"/>
            <a:ext cx="3659394" cy="489063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LITERATURE  REVIEW</a:t>
            </a:r>
            <a:endParaRPr lang="en-US" sz="24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5CA567-C6D2-60A4-AB27-461EB4337A33}"/>
              </a:ext>
            </a:extLst>
          </p:cNvPr>
          <p:cNvSpPr/>
          <p:nvPr/>
        </p:nvSpPr>
        <p:spPr>
          <a:xfrm>
            <a:off x="14914901" y="8456614"/>
            <a:ext cx="5225255" cy="79576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95DD4A7-1407-997D-E687-39FF330D6FAA}"/>
              </a:ext>
            </a:extLst>
          </p:cNvPr>
          <p:cNvSpPr txBox="1">
            <a:spLocks/>
          </p:cNvSpPr>
          <p:nvPr/>
        </p:nvSpPr>
        <p:spPr>
          <a:xfrm>
            <a:off x="16100339" y="8595988"/>
            <a:ext cx="3040262" cy="373391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KEY  STATISTICS</a:t>
            </a:r>
            <a:endParaRPr lang="en-US" sz="24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090C0C-FD6D-6AC9-F1C5-9BB0FF26D100}"/>
              </a:ext>
            </a:extLst>
          </p:cNvPr>
          <p:cNvSpPr/>
          <p:nvPr/>
        </p:nvSpPr>
        <p:spPr>
          <a:xfrm>
            <a:off x="14958733" y="11939632"/>
            <a:ext cx="5139119" cy="79576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197F92CF-7125-0935-6858-BD01356C93A4}"/>
              </a:ext>
            </a:extLst>
          </p:cNvPr>
          <p:cNvSpPr txBox="1">
            <a:spLocks/>
          </p:cNvSpPr>
          <p:nvPr/>
        </p:nvSpPr>
        <p:spPr>
          <a:xfrm>
            <a:off x="16379476" y="12030461"/>
            <a:ext cx="2370862" cy="483549"/>
          </a:xfrm>
          <a:prstGeom prst="rect">
            <a:avLst/>
          </a:prstGeom>
        </p:spPr>
        <p:txBody>
          <a:bodyPr vert="horz" lIns="55880" tIns="55880" rIns="55880" bIns="5588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lang="en-US" sz="24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FF2CF6-5EBB-D731-4E7A-157EEF3EF836}"/>
              </a:ext>
            </a:extLst>
          </p:cNvPr>
          <p:cNvSpPr/>
          <p:nvPr/>
        </p:nvSpPr>
        <p:spPr>
          <a:xfrm>
            <a:off x="14958733" y="18895362"/>
            <a:ext cx="5162671" cy="79576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8AF6D08D-F216-C6F6-D9F8-A02891FB6EDA}"/>
              </a:ext>
            </a:extLst>
          </p:cNvPr>
          <p:cNvSpPr txBox="1">
            <a:spLocks/>
          </p:cNvSpPr>
          <p:nvPr/>
        </p:nvSpPr>
        <p:spPr>
          <a:xfrm>
            <a:off x="16276499" y="19031838"/>
            <a:ext cx="2370862" cy="441876"/>
          </a:xfrm>
          <a:prstGeom prst="rect">
            <a:avLst/>
          </a:prstGeom>
        </p:spPr>
        <p:txBody>
          <a:bodyPr vert="horz" lIns="55880" tIns="55880" rIns="55880" bIns="5588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24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A9F9E9-A45A-A2C0-1B85-6F1ABBB2433F}"/>
              </a:ext>
            </a:extLst>
          </p:cNvPr>
          <p:cNvSpPr/>
          <p:nvPr/>
        </p:nvSpPr>
        <p:spPr>
          <a:xfrm>
            <a:off x="-20619" y="4303531"/>
            <a:ext cx="5225255" cy="899923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630437C3-A16B-55C9-045C-F81F7BC428C7}"/>
              </a:ext>
            </a:extLst>
          </p:cNvPr>
          <p:cNvSpPr txBox="1">
            <a:spLocks/>
          </p:cNvSpPr>
          <p:nvPr/>
        </p:nvSpPr>
        <p:spPr>
          <a:xfrm>
            <a:off x="402135" y="4424341"/>
            <a:ext cx="4359598" cy="524814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ABSTRACT  &amp;  INTRODUCTION</a:t>
            </a:r>
            <a:endParaRPr lang="en-US" sz="24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9DA562-CE1A-9AE8-2C80-2927E1243C67}"/>
              </a:ext>
            </a:extLst>
          </p:cNvPr>
          <p:cNvSpPr/>
          <p:nvPr/>
        </p:nvSpPr>
        <p:spPr>
          <a:xfrm>
            <a:off x="5528788" y="4307612"/>
            <a:ext cx="9010143" cy="899923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8B029233-6A90-A3AB-E9D0-2AD702F2811F}"/>
              </a:ext>
            </a:extLst>
          </p:cNvPr>
          <p:cNvSpPr txBox="1">
            <a:spLocks/>
          </p:cNvSpPr>
          <p:nvPr/>
        </p:nvSpPr>
        <p:spPr>
          <a:xfrm>
            <a:off x="5753064" y="4469667"/>
            <a:ext cx="8124371" cy="54122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CUMULATIVE  PORTFOLIO  VALUE  vs  S&amp;P 500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3BA9FA8-4492-FCA5-8B6C-15899981875F}"/>
              </a:ext>
            </a:extLst>
          </p:cNvPr>
          <p:cNvSpPr/>
          <p:nvPr/>
        </p:nvSpPr>
        <p:spPr>
          <a:xfrm>
            <a:off x="14863083" y="4328680"/>
            <a:ext cx="5263019" cy="899923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45C2EA1B-FDE4-AA27-2582-BE61154FA650}"/>
              </a:ext>
            </a:extLst>
          </p:cNvPr>
          <p:cNvSpPr txBox="1">
            <a:spLocks/>
          </p:cNvSpPr>
          <p:nvPr/>
        </p:nvSpPr>
        <p:spPr>
          <a:xfrm>
            <a:off x="14508675" y="4494640"/>
            <a:ext cx="5587610" cy="433462"/>
          </a:xfrm>
          <a:prstGeom prst="rect">
            <a:avLst/>
          </a:prstGeom>
        </p:spPr>
        <p:txBody>
          <a:bodyPr vert="horz" lIns="55880" tIns="55880" rIns="55880" bIns="5588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          SCAN HERE FOR LIVE UPDATES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37460B6-0F45-5355-42E9-21BB423DF0CF}"/>
              </a:ext>
            </a:extLst>
          </p:cNvPr>
          <p:cNvSpPr/>
          <p:nvPr/>
        </p:nvSpPr>
        <p:spPr>
          <a:xfrm>
            <a:off x="-18404" y="20068721"/>
            <a:ext cx="5225255" cy="899923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AAB91AE7-6D7A-663A-4E9E-B7468E847E2A}"/>
              </a:ext>
            </a:extLst>
          </p:cNvPr>
          <p:cNvSpPr txBox="1">
            <a:spLocks/>
          </p:cNvSpPr>
          <p:nvPr/>
        </p:nvSpPr>
        <p:spPr>
          <a:xfrm>
            <a:off x="501261" y="20181003"/>
            <a:ext cx="4070872" cy="566351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67"/>
              </a:spcBef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   METHODOLOGY  &amp;  SETUP</a:t>
            </a:r>
            <a:endParaRPr lang="en-US" sz="24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03774147-3958-CA33-37AC-D7BEF5BAB6F6}"/>
              </a:ext>
            </a:extLst>
          </p:cNvPr>
          <p:cNvSpPr txBox="1">
            <a:spLocks/>
          </p:cNvSpPr>
          <p:nvPr/>
        </p:nvSpPr>
        <p:spPr>
          <a:xfrm>
            <a:off x="2727546" y="1124270"/>
            <a:ext cx="14845675" cy="696820"/>
          </a:xfrm>
          <a:prstGeom prst="rect">
            <a:avLst/>
          </a:prstGeom>
        </p:spPr>
        <p:txBody>
          <a:bodyPr vert="horz" lIns="55880" tIns="27940" rIns="55880" bIns="2794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3"/>
              </a:spcBef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Evaluating Claude AI, ChatGPT, DeepSeek &amp; Grok on Real US Equity Markets — February 2026 </a:t>
            </a:r>
            <a:endParaRPr lang="tr-T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E6B1B2EA-5482-094A-C0DF-EBBDEAD831D1}"/>
              </a:ext>
            </a:extLst>
          </p:cNvPr>
          <p:cNvSpPr txBox="1">
            <a:spLocks/>
          </p:cNvSpPr>
          <p:nvPr/>
        </p:nvSpPr>
        <p:spPr>
          <a:xfrm>
            <a:off x="2638279" y="1687864"/>
            <a:ext cx="14845675" cy="696820"/>
          </a:xfrm>
          <a:prstGeom prst="rect">
            <a:avLst/>
          </a:prstGeom>
        </p:spPr>
        <p:txBody>
          <a:bodyPr vert="horz" lIns="55880" tIns="27940" rIns="55880" bIns="27940" rtlCol="0" anchor="ctr"/>
          <a:lstStyle>
            <a:defPPr>
              <a:defRPr lang="en-US"/>
            </a:defPPr>
            <a:lvl1pPr marL="0" indent="0" algn="ctr" defTabSz="457200" rtl="0" eaLnBrk="1" latinLnBrk="0" hangingPunct="1">
              <a:buFontTx/>
              <a:buNone/>
              <a:defRPr lang="en-US" sz="384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3"/>
              </a:spcBef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Manasa Dontireddy , Dr. Orhan Erdem</a:t>
            </a:r>
            <a:endParaRPr lang="tr-T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rminator 56">
            <a:extLst>
              <a:ext uri="{FF2B5EF4-FFF2-40B4-BE49-F238E27FC236}">
                <a16:creationId xmlns:a16="http://schemas.microsoft.com/office/drawing/2014/main" id="{038B8619-2A66-22DF-1722-9D97C6865FB9}"/>
              </a:ext>
            </a:extLst>
          </p:cNvPr>
          <p:cNvSpPr/>
          <p:nvPr/>
        </p:nvSpPr>
        <p:spPr>
          <a:xfrm>
            <a:off x="5965410" y="2504147"/>
            <a:ext cx="2220568" cy="633964"/>
          </a:xfrm>
          <a:prstGeom prst="flowChartTermina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E80C07-C93D-94D5-57E2-041604AEF207}"/>
              </a:ext>
            </a:extLst>
          </p:cNvPr>
          <p:cNvSpPr txBox="1"/>
          <p:nvPr/>
        </p:nvSpPr>
        <p:spPr>
          <a:xfrm>
            <a:off x="6138443" y="2684964"/>
            <a:ext cx="1860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💰 </a:t>
            </a:r>
            <a:r>
              <a:rPr lang="en-US" sz="1600" b="1" dirty="0">
                <a:solidFill>
                  <a:schemeClr val="bg1"/>
                </a:solidFill>
              </a:rPr>
              <a:t>$1,000  Per  LLM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0" name="Terminator 59">
            <a:extLst>
              <a:ext uri="{FF2B5EF4-FFF2-40B4-BE49-F238E27FC236}">
                <a16:creationId xmlns:a16="http://schemas.microsoft.com/office/drawing/2014/main" id="{9D24EF4B-1A2F-F0AC-6D26-865EBA1D1E69}"/>
              </a:ext>
            </a:extLst>
          </p:cNvPr>
          <p:cNvSpPr/>
          <p:nvPr/>
        </p:nvSpPr>
        <p:spPr>
          <a:xfrm>
            <a:off x="8429347" y="2519252"/>
            <a:ext cx="2897104" cy="633964"/>
          </a:xfrm>
          <a:prstGeom prst="flowChartTermina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71A641-AD1F-6F5A-008B-DFEDB3FCF3AA}"/>
              </a:ext>
            </a:extLst>
          </p:cNvPr>
          <p:cNvSpPr txBox="1"/>
          <p:nvPr/>
        </p:nvSpPr>
        <p:spPr>
          <a:xfrm flipH="1">
            <a:off x="8646252" y="2693468"/>
            <a:ext cx="2569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📊  </a:t>
            </a:r>
            <a:r>
              <a:rPr lang="en-US" sz="1600" b="1" dirty="0">
                <a:solidFill>
                  <a:schemeClr val="bg1"/>
                </a:solidFill>
              </a:rPr>
              <a:t>Rolling Weekly Strategy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2" name="Terminator 61">
            <a:extLst>
              <a:ext uri="{FF2B5EF4-FFF2-40B4-BE49-F238E27FC236}">
                <a16:creationId xmlns:a16="http://schemas.microsoft.com/office/drawing/2014/main" id="{EF693653-108D-7A2F-7AAB-07B2075D9E78}"/>
              </a:ext>
            </a:extLst>
          </p:cNvPr>
          <p:cNvSpPr/>
          <p:nvPr/>
        </p:nvSpPr>
        <p:spPr>
          <a:xfrm>
            <a:off x="11557044" y="2523428"/>
            <a:ext cx="2765706" cy="633964"/>
          </a:xfrm>
          <a:prstGeom prst="flowChartTermina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625E44E-554A-6F1F-3DA4-8F9E7ACA74BB}"/>
              </a:ext>
            </a:extLst>
          </p:cNvPr>
          <p:cNvSpPr txBox="1"/>
          <p:nvPr/>
        </p:nvSpPr>
        <p:spPr>
          <a:xfrm flipH="1">
            <a:off x="11687711" y="2683019"/>
            <a:ext cx="254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🌐  </a:t>
            </a:r>
            <a:r>
              <a:rPr lang="en-US" b="1" dirty="0">
                <a:solidFill>
                  <a:schemeClr val="bg1"/>
                </a:solidFill>
              </a:rPr>
              <a:t>Yahoo Finance Prices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25" name="Terminator 1024">
            <a:extLst>
              <a:ext uri="{FF2B5EF4-FFF2-40B4-BE49-F238E27FC236}">
                <a16:creationId xmlns:a16="http://schemas.microsoft.com/office/drawing/2014/main" id="{C3D59A9C-CCDB-42E0-B7DF-EA9105F7EB72}"/>
              </a:ext>
            </a:extLst>
          </p:cNvPr>
          <p:cNvSpPr/>
          <p:nvPr/>
        </p:nvSpPr>
        <p:spPr>
          <a:xfrm>
            <a:off x="14508675" y="2523428"/>
            <a:ext cx="2526645" cy="633964"/>
          </a:xfrm>
          <a:prstGeom prst="flowChartTermina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2E27ACB9-55FC-C587-EA92-39EF05861D49}"/>
              </a:ext>
            </a:extLst>
          </p:cNvPr>
          <p:cNvSpPr txBox="1"/>
          <p:nvPr/>
        </p:nvSpPr>
        <p:spPr>
          <a:xfrm>
            <a:off x="14676296" y="2671133"/>
            <a:ext cx="2328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📈  </a:t>
            </a:r>
            <a:r>
              <a:rPr lang="en-US" sz="1600" b="1" dirty="0">
                <a:solidFill>
                  <a:schemeClr val="bg1"/>
                </a:solidFill>
              </a:rPr>
              <a:t>S&amp;P 500 Benchmark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C4E266-7F62-5366-2329-4E330134FA97}"/>
              </a:ext>
            </a:extLst>
          </p:cNvPr>
          <p:cNvSpPr/>
          <p:nvPr/>
        </p:nvSpPr>
        <p:spPr>
          <a:xfrm>
            <a:off x="17895725" y="394454"/>
            <a:ext cx="2200560" cy="21564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5E481D-0C09-C734-7BB6-A1CC8EB57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3255" y="949494"/>
            <a:ext cx="1825500" cy="113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78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6248</TotalTime>
  <Words>750</Words>
  <Application>Microsoft Macintosh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Orhan Erdem</dc:creator>
  <cp:lastModifiedBy>Dontireddy, Manasa</cp:lastModifiedBy>
  <cp:revision>147</cp:revision>
  <dcterms:created xsi:type="dcterms:W3CDTF">2023-09-14T16:10:29Z</dcterms:created>
  <dcterms:modified xsi:type="dcterms:W3CDTF">2026-04-01T04:42:13Z</dcterms:modified>
</cp:coreProperties>
</file>